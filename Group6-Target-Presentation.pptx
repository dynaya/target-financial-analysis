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6" r:id="rId1"/>
  </p:sldMasterIdLst>
  <p:notesMasterIdLst>
    <p:notesMasterId r:id="rId10"/>
  </p:notesMasterIdLst>
  <p:sldIdLst>
    <p:sldId id="256" r:id="rId2"/>
    <p:sldId id="262" r:id="rId3"/>
    <p:sldId id="261" r:id="rId4"/>
    <p:sldId id="263" r:id="rId5"/>
    <p:sldId id="259" r:id="rId6"/>
    <p:sldId id="257" r:id="rId7"/>
    <p:sldId id="264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3089CD-7C2C-D810-99A3-89B48E60BE50}" v="16" dt="2026-09-29T02:26:57.504"/>
    <p1510:client id="{1F9D8869-1DE5-BCFC-3A6A-1E4BD7A79DFE}" v="2938" dt="2026-09-28T20:54:39.696"/>
    <p1510:client id="{82560F39-A5B1-D5D4-123C-13DCDEEB4087}" v="495" dt="2026-09-28T01:40:28.492"/>
    <p1510:client id="{8EA53FD5-B018-023E-2425-0BB3AAD0F2F1}" v="36" dt="2026-09-28T20:47:17.614"/>
    <p1510:client id="{AEF7EA2E-F556-45A7-646B-416C5B5CE7FA}" v="51" dt="2026-09-28T18:07:47.700"/>
    <p1510:client id="{EA438537-46E1-C3ED-6554-B392152BDE6F}" v="461" dt="2026-09-28T04:46:43"/>
    <p1510:client id="{F37D39A1-0DB6-EE17-D69F-90B3309AA463}" v="10" dt="2026-09-28T03:54:46.889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llinoisstateuniversity-my.sharepoint.com/personal/jwidle_ilstu_edu/Documents/Presentation%201_LineMarker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Margin</c:v>
                </c:pt>
              </c:strCache>
            </c:strRef>
          </c:tx>
          <c:spPr>
            <a:ln w="28575" cap="rnd">
              <a:solidFill>
                <a:srgbClr val="ADADA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0.00%</c:formatCode>
                <c:ptCount val="5"/>
                <c:pt idx="0">
                  <c:v>4.7300000000000002E-2</c:v>
                </c:pt>
                <c:pt idx="1">
                  <c:v>6.6400000000000001E-2</c:v>
                </c:pt>
                <c:pt idx="2">
                  <c:v>2.58E-2</c:v>
                </c:pt>
                <c:pt idx="3">
                  <c:v>3.9100000000000003E-2</c:v>
                </c:pt>
                <c:pt idx="4">
                  <c:v>3.8399999999999997E-2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A0-44D9-9111-BFC21788C7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ROA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0.00%</c:formatCode>
                <c:ptCount val="5"/>
                <c:pt idx="0">
                  <c:v>8.5199999999999998E-2</c:v>
                </c:pt>
                <c:pt idx="1">
                  <c:v>0.12909999999999999</c:v>
                </c:pt>
                <c:pt idx="2">
                  <c:v>5.21E-2</c:v>
                </c:pt>
                <c:pt idx="3">
                  <c:v>7.4800000000000005E-2</c:v>
                </c:pt>
                <c:pt idx="4">
                  <c:v>7.0800000000000002E-2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A0-44D9-9111-BFC21788C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7966624"/>
        <c:axId val="1757972384"/>
      </c:lineChart>
      <c:catAx>
        <c:axId val="1757966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7972384"/>
        <c:crosses val="autoZero"/>
        <c:auto val="1"/>
        <c:lblAlgn val="ctr"/>
        <c:lblOffset val="100"/>
        <c:noMultiLvlLbl val="0"/>
      </c:catAx>
      <c:valAx>
        <c:axId val="1757972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7966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B816A-7F4D-4C99-82B4-397A30235253}" type="datetimeFigureOut"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77F25-107E-4D08-86F6-C85A2CDA41D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07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14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03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31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/>
            <a:ahLst/>
            <a:cxnLst/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80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586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FigureOut">
              <a:rPr lang="en-US" dirty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342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FigureOut">
              <a:rPr lang="en-US" dirty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8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571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34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5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25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7278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7423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7145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64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333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/>
            <a:ahLst/>
            <a:cxnLst/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712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FigureOut">
              <a:rPr lang="en-US" dirty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072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01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FigureOut">
              <a:rPr lang="en-US" dirty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479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403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10/13/2026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5721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10/13/2026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7510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10/13/2026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15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5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210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425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76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53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10/13/2026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7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32" r:id="rId16"/>
    <p:sldLayoutId id="2147483933" r:id="rId17"/>
    <p:sldLayoutId id="2147483934" r:id="rId18"/>
    <p:sldLayoutId id="2147483935" r:id="rId19"/>
    <p:sldLayoutId id="2147483936" r:id="rId20"/>
    <p:sldLayoutId id="2147483937" r:id="rId21"/>
    <p:sldLayoutId id="2147483938" r:id="rId22"/>
    <p:sldLayoutId id="2147483939" r:id="rId23"/>
    <p:sldLayoutId id="2147483940" r:id="rId24"/>
    <p:sldLayoutId id="2147483941" r:id="rId25"/>
    <p:sldLayoutId id="2147483942" r:id="rId26"/>
    <p:sldLayoutId id="2147483943" r:id="rId27"/>
    <p:sldLayoutId id="2147483944" r:id="rId28"/>
    <p:sldLayoutId id="2147483945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4207" y="1112431"/>
            <a:ext cx="3230993" cy="1858941"/>
          </a:xfrm>
        </p:spPr>
        <p:txBody>
          <a:bodyPr>
            <a:normAutofit/>
          </a:bodyPr>
          <a:lstStyle/>
          <a:p>
            <a:r>
              <a:rPr lang="en-US" sz="3300"/>
              <a:t>MBA 440 Target Financial Analysis</a:t>
            </a:r>
          </a:p>
        </p:txBody>
      </p:sp>
      <p:pic>
        <p:nvPicPr>
          <p:cNvPr id="4" name="Picture 3" descr="File:Target logo.svg - Wikimedia Commons">
            <a:extLst>
              <a:ext uri="{FF2B5EF4-FFF2-40B4-BE49-F238E27FC236}">
                <a16:creationId xmlns:a16="http://schemas.microsoft.com/office/drawing/2014/main" id="{CB5A3650-C21F-A6EF-98C0-F2BD652267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08" r="1" b="25246"/>
          <a:stretch>
            <a:fillRect/>
          </a:stretch>
        </p:blipFill>
        <p:spPr>
          <a:xfrm>
            <a:off x="12192" y="10"/>
            <a:ext cx="7481777" cy="685799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3" name="Subtitle 2"/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6</a:t>
            </a:r>
          </a:p>
          <a:p>
            <a:pPr>
              <a:spcAft>
                <a:spcPts val="600"/>
              </a:spcAft>
            </a:pPr>
            <a:r>
              <a:rPr lang="en-US"/>
              <a:t>Ampong Deborah</a:t>
            </a:r>
            <a:br>
              <a:rPr lang="en-US"/>
            </a:br>
            <a:r>
              <a:rPr lang="en-US"/>
              <a:t>Gould Maleigha</a:t>
            </a:r>
          </a:p>
          <a:p>
            <a:pPr>
              <a:spcAft>
                <a:spcPts val="600"/>
              </a:spcAft>
            </a:pPr>
            <a:r>
              <a:rPr lang="en-US"/>
              <a:t>Idle Justin</a:t>
            </a:r>
          </a:p>
          <a:p>
            <a:pPr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EC869BF-AA6C-451E-880A-D1E4FBE2AB2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Target Corporation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11D546-C6F9-4677-BE11-62766C6C6F41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CC000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CC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Company overview   Fiscal 2020–2024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D6E11E-6D7E-4B14-A186-27F2B345002F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5B626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B626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General merchandise retailer with stores and digital channels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086637-0A54-4388-9461-0BA95490418D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Operating income and net earnings ($ millions)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400963"/>
            <a:ext cx="7381875" cy="30847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0AE132-F0CC-4F70-BBC4-C22BD48DD641}"/>
              </a:ext>
            </a:extLst>
          </p:cNvPr>
          <p:cNvSpPr>
            <a:spLocks noGrp="1"/>
          </p:cNvSpPr>
          <p:nvPr/>
        </p:nvSpPr>
        <p:spPr>
          <a:xfrm>
            <a:off x="8362950" y="224790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5B626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B626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2024 net sales ($ millions)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3CEE08-5114-4EAD-84B6-7C72BF311B8E}"/>
              </a:ext>
            </a:extLst>
          </p:cNvPr>
          <p:cNvSpPr>
            <a:spLocks noGrp="1"/>
          </p:cNvSpPr>
          <p:nvPr/>
        </p:nvSpPr>
        <p:spPr>
          <a:xfrm>
            <a:off x="8362950" y="2562225"/>
            <a:ext cx="30289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CC0000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C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$106,566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0EE873-5C29-4BD3-A0EF-F6069B9D857A}"/>
              </a:ext>
            </a:extLst>
          </p:cNvPr>
          <p:cNvSpPr>
            <a:spLocks noGrp="1"/>
          </p:cNvSpPr>
          <p:nvPr/>
        </p:nvSpPr>
        <p:spPr>
          <a:xfrm>
            <a:off x="8362950" y="3476625"/>
            <a:ext cx="3190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5B626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B626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Total assets ($ millions)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BA2B3D-A4FB-417B-A873-735429B43E60}"/>
              </a:ext>
            </a:extLst>
          </p:cNvPr>
          <p:cNvSpPr>
            <a:spLocks noGrp="1"/>
          </p:cNvSpPr>
          <p:nvPr/>
        </p:nvSpPr>
        <p:spPr>
          <a:xfrm>
            <a:off x="8362950" y="3810000"/>
            <a:ext cx="30289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$51,248  (2020)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288B2E-7A1A-4D3F-B4EF-71F65CE51913}"/>
              </a:ext>
            </a:extLst>
          </p:cNvPr>
          <p:cNvSpPr>
            <a:spLocks noGrp="1"/>
          </p:cNvSpPr>
          <p:nvPr/>
        </p:nvSpPr>
        <p:spPr>
          <a:xfrm>
            <a:off x="8362950" y="4171950"/>
            <a:ext cx="30289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$57,769  (2024)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CEAA4A-4DCC-495A-A1C9-A2980AF85CFA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Assets rose while 2024 net earnings remained below 2020.</a:t>
            </a:r>
          </a:p>
        </p:txBody>
      </p:sp>
    </p:spTree>
    <p:extLst>
      <p:ext uri="{BB962C8B-B14F-4D97-AF65-F5344CB8AC3E}">
        <p14:creationId xmlns:p14="http://schemas.microsoft.com/office/powerpoint/2010/main" val="1108196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59CB81-7FFA-134F-C9E3-6A6961E3C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652" y="126881"/>
            <a:ext cx="5411374" cy="12106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b="1"/>
              <a:t>Liquidity Analysis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23CFEF-350D-EDDE-7BAB-0163A1DB1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899337"/>
              </p:ext>
            </p:extLst>
          </p:nvPr>
        </p:nvGraphicFramePr>
        <p:xfrm>
          <a:off x="474452" y="1049547"/>
          <a:ext cx="11038344" cy="230582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839724">
                  <a:extLst>
                    <a:ext uri="{9D8B030D-6E8A-4147-A177-3AD203B41FA5}">
                      <a16:colId xmlns:a16="http://schemas.microsoft.com/office/drawing/2014/main" val="4228643045"/>
                    </a:ext>
                  </a:extLst>
                </a:gridCol>
                <a:gridCol w="1839724">
                  <a:extLst>
                    <a:ext uri="{9D8B030D-6E8A-4147-A177-3AD203B41FA5}">
                      <a16:colId xmlns:a16="http://schemas.microsoft.com/office/drawing/2014/main" val="1223092644"/>
                    </a:ext>
                  </a:extLst>
                </a:gridCol>
                <a:gridCol w="1839724">
                  <a:extLst>
                    <a:ext uri="{9D8B030D-6E8A-4147-A177-3AD203B41FA5}">
                      <a16:colId xmlns:a16="http://schemas.microsoft.com/office/drawing/2014/main" val="775667766"/>
                    </a:ext>
                  </a:extLst>
                </a:gridCol>
                <a:gridCol w="1839724">
                  <a:extLst>
                    <a:ext uri="{9D8B030D-6E8A-4147-A177-3AD203B41FA5}">
                      <a16:colId xmlns:a16="http://schemas.microsoft.com/office/drawing/2014/main" val="2077520756"/>
                    </a:ext>
                  </a:extLst>
                </a:gridCol>
                <a:gridCol w="1839724">
                  <a:extLst>
                    <a:ext uri="{9D8B030D-6E8A-4147-A177-3AD203B41FA5}">
                      <a16:colId xmlns:a16="http://schemas.microsoft.com/office/drawing/2014/main" val="558236439"/>
                    </a:ext>
                  </a:extLst>
                </a:gridCol>
                <a:gridCol w="1839724">
                  <a:extLst>
                    <a:ext uri="{9D8B030D-6E8A-4147-A177-3AD203B41FA5}">
                      <a16:colId xmlns:a16="http://schemas.microsoft.com/office/drawing/2014/main" val="3634000113"/>
                    </a:ext>
                  </a:extLst>
                </a:gridCol>
              </a:tblGrid>
              <a:tr h="395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FY2020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FY2021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FY2022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FY2023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FY2024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943867"/>
                  </a:ext>
                </a:extLst>
              </a:tr>
              <a:tr h="5678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Neue Haas Grotesk Text Pro"/>
                        </a:rPr>
                        <a:t>Current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563154"/>
                  </a:ext>
                </a:extLst>
              </a:tr>
              <a:tr h="6710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Neue Haas Grotesk Text Pro"/>
                        </a:rPr>
                        <a:t>Acid-Test Ratio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86654"/>
                  </a:ext>
                </a:extLst>
              </a:tr>
              <a:tr h="6710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Neue Haas Grotesk Text Pro"/>
                        </a:rPr>
                        <a:t>Cash Ratio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5120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4EB28A8-E4CE-84E7-31A9-F9E1A9CC5499}"/>
              </a:ext>
            </a:extLst>
          </p:cNvPr>
          <p:cNvSpPr txBox="1"/>
          <p:nvPr/>
        </p:nvSpPr>
        <p:spPr>
          <a:xfrm>
            <a:off x="388927" y="3575538"/>
            <a:ext cx="1153764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Current ratio fell below 1.00 in 2021 and remained below 1.00 through 2024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Acid-test and cash ratios reached their lowest levels in 2022, then improved in 2023-2024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Cash increased from $2.229 billion in 2022 to $4.762 billion in 2024, supporting the liquidity recovery.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834DB6-25CB-08F8-1B71-9BF6D8C538B0}"/>
              </a:ext>
            </a:extLst>
          </p:cNvPr>
          <p:cNvSpPr txBox="1"/>
          <p:nvPr/>
        </p:nvSpPr>
        <p:spPr>
          <a:xfrm>
            <a:off x="449384" y="4689230"/>
            <a:ext cx="115081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Recommendation</a:t>
            </a:r>
            <a:r>
              <a:rPr lang="en-US"/>
              <a:t>: Target should continue managing cash, inventory, and short-term obligations carefully to improve liquidity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167938-7B55-3C57-A4B7-C246947CD4F6}"/>
              </a:ext>
            </a:extLst>
          </p:cNvPr>
          <p:cNvSpPr txBox="1"/>
          <p:nvPr/>
        </p:nvSpPr>
        <p:spPr>
          <a:xfrm>
            <a:off x="1367691" y="5490308"/>
            <a:ext cx="75123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Source: Target Corporation Forms 10-K, Fiscal Years 2020-2024.</a:t>
            </a:r>
          </a:p>
        </p:txBody>
      </p:sp>
    </p:spTree>
    <p:extLst>
      <p:ext uri="{BB962C8B-B14F-4D97-AF65-F5344CB8AC3E}">
        <p14:creationId xmlns:p14="http://schemas.microsoft.com/office/powerpoint/2010/main" val="3174086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5E893F5-6A5F-42E3-B892-51BF8B4AF9D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06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cash conversion cycle turned positive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56C792-D926-4E14-AEB3-DB7D7A15D5C3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CC000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CC0000"/>
                </a:solidFill>
                <a:latin typeface="Times New Roman"/>
                <a:ea typeface="DejaVu Sans"/>
                <a:cs typeface="Times New Roman"/>
              </a:rPr>
              <a:t>Efficiency analysis   </a:t>
            </a:r>
            <a:endParaRPr lang="en-US" sz="3000" b="1">
              <a:solidFill>
                <a:srgbClr val="CC0000"/>
              </a:solidFill>
              <a:latin typeface="Times New Roman"/>
              <a:ea typeface="DejaVu Sans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6CF607-EB92-456B-B71E-9B55DA5ECE79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6905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Cash conversion cycle (days)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2972" y="1990725"/>
            <a:ext cx="6736956" cy="31718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2E5F83-91F6-47A7-895D-1EC4F985B900}"/>
              </a:ext>
            </a:extLst>
          </p:cNvPr>
          <p:cNvSpPr>
            <a:spLocks noGrp="1"/>
          </p:cNvSpPr>
          <p:nvPr/>
        </p:nvSpPr>
        <p:spPr>
          <a:xfrm>
            <a:off x="7943850" y="165735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2024 average timing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B077E-2C2D-4DE3-9F82-B8BAF17753E3}"/>
              </a:ext>
            </a:extLst>
          </p:cNvPr>
          <p:cNvSpPr>
            <a:spLocks noGrp="1"/>
          </p:cNvSpPr>
          <p:nvPr/>
        </p:nvSpPr>
        <p:spPr>
          <a:xfrm>
            <a:off x="7943850" y="2181225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5B62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B626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Inventory on hand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8761CA-EB42-4E40-8C6F-23049055C735}"/>
              </a:ext>
            </a:extLst>
          </p:cNvPr>
          <p:cNvSpPr>
            <a:spLocks noGrp="1"/>
          </p:cNvSpPr>
          <p:nvPr/>
        </p:nvSpPr>
        <p:spPr>
          <a:xfrm>
            <a:off x="7943850" y="2447925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58.75 days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5A4589-61C0-4878-8E5D-B6A2B10C18F3}"/>
              </a:ext>
            </a:extLst>
          </p:cNvPr>
          <p:cNvSpPr>
            <a:spLocks noGrp="1"/>
          </p:cNvSpPr>
          <p:nvPr/>
        </p:nvSpPr>
        <p:spPr>
          <a:xfrm>
            <a:off x="7943850" y="3000375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5B62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B626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Collect from customers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1DEEBC-AAAF-4BE7-BBDD-E709EFE3F78E}"/>
              </a:ext>
            </a:extLst>
          </p:cNvPr>
          <p:cNvSpPr>
            <a:spLocks noGrp="1"/>
          </p:cNvSpPr>
          <p:nvPr/>
        </p:nvSpPr>
        <p:spPr>
          <a:xfrm>
            <a:off x="7943850" y="3267075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6.44 days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3E7D5D-D3C1-4D2C-80E1-1338D2ABD180}"/>
              </a:ext>
            </a:extLst>
          </p:cNvPr>
          <p:cNvSpPr>
            <a:spLocks noGrp="1"/>
          </p:cNvSpPr>
          <p:nvPr/>
        </p:nvSpPr>
        <p:spPr>
          <a:xfrm>
            <a:off x="7943850" y="3819525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5B626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B626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Pay suppliers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2E77F4-53BD-41A7-A0AA-B1AE03C6C2FD}"/>
              </a:ext>
            </a:extLst>
          </p:cNvPr>
          <p:cNvSpPr>
            <a:spLocks noGrp="1"/>
          </p:cNvSpPr>
          <p:nvPr/>
        </p:nvSpPr>
        <p:spPr>
          <a:xfrm>
            <a:off x="7943850" y="4086225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60.00 days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F555C9-EE7F-4938-98DE-F2FB3780C697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CC000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C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58.75 + 6.44 − 60.00 = 5.19 days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A37E36-4651-4A12-B6BC-7463FD0C8189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2021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02126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Shorten inventory time and review supplier payment timing.</a:t>
            </a:r>
          </a:p>
        </p:txBody>
      </p:sp>
    </p:spTree>
    <p:extLst>
      <p:ext uri="{BB962C8B-B14F-4D97-AF65-F5344CB8AC3E}">
        <p14:creationId xmlns:p14="http://schemas.microsoft.com/office/powerpoint/2010/main" val="1956219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373F35C-CE87-1108-6EF8-631F92204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081" y="269436"/>
            <a:ext cx="9241522" cy="11759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Profitability recovered after a sharp decline in 2022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834860-2C9E-EA00-82E1-470289BE3E6C}"/>
              </a:ext>
            </a:extLst>
          </p:cNvPr>
          <p:cNvSpPr txBox="1"/>
          <p:nvPr/>
        </p:nvSpPr>
        <p:spPr>
          <a:xfrm>
            <a:off x="1088625" y="772323"/>
            <a:ext cx="42608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Profitability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2D2F34-7DD1-6CB2-4A4D-E82BF8B5C77A}"/>
              </a:ext>
            </a:extLst>
          </p:cNvPr>
          <p:cNvSpPr txBox="1"/>
          <p:nvPr/>
        </p:nvSpPr>
        <p:spPr>
          <a:xfrm>
            <a:off x="1087518" y="1255622"/>
            <a:ext cx="48761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Net Profit Margin and Return on Assets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CDF2B2A-4D11-B020-934A-E61CD9633F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0089246"/>
              </p:ext>
            </p:extLst>
          </p:nvPr>
        </p:nvGraphicFramePr>
        <p:xfrm>
          <a:off x="1082843" y="1854959"/>
          <a:ext cx="6918157" cy="3557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F2DBB78-4DCC-09A6-3411-018570D2ACFE}"/>
              </a:ext>
            </a:extLst>
          </p:cNvPr>
          <p:cNvSpPr txBox="1"/>
          <p:nvPr/>
        </p:nvSpPr>
        <p:spPr>
          <a:xfrm>
            <a:off x="829733" y="5554133"/>
            <a:ext cx="102552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Profitability partially recovered in 2023-2024 but remained below 2021 levels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5F02CC-E7A9-E9AA-094A-F62AE7599C49}"/>
              </a:ext>
            </a:extLst>
          </p:cNvPr>
          <p:cNvSpPr txBox="1"/>
          <p:nvPr/>
        </p:nvSpPr>
        <p:spPr>
          <a:xfrm>
            <a:off x="830692" y="5926667"/>
            <a:ext cx="1080250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Recommendation</a:t>
            </a:r>
            <a:r>
              <a:rPr lang="en-US" sz="1600"/>
              <a:t>: Continue controlling costs and managing inventory while focusing on profitable sales growth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FC11E-C40E-0785-82F9-E1EE437416EA}"/>
              </a:ext>
            </a:extLst>
          </p:cNvPr>
          <p:cNvSpPr txBox="1"/>
          <p:nvPr/>
        </p:nvSpPr>
        <p:spPr>
          <a:xfrm>
            <a:off x="8568267" y="1320799"/>
            <a:ext cx="3285066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Key profitability results</a:t>
            </a:r>
          </a:p>
          <a:p>
            <a:endParaRPr lang="en-US"/>
          </a:p>
          <a:p>
            <a:r>
              <a:rPr lang="en-US" b="1"/>
              <a:t>2021 Peak</a:t>
            </a:r>
          </a:p>
          <a:p>
            <a:r>
              <a:rPr lang="en-US"/>
              <a:t>Net Profit Margin: </a:t>
            </a:r>
            <a:r>
              <a:rPr lang="en-US" b="1"/>
              <a:t>6.64%</a:t>
            </a:r>
          </a:p>
          <a:p>
            <a:r>
              <a:rPr lang="en-US"/>
              <a:t>ROA: </a:t>
            </a:r>
            <a:r>
              <a:rPr lang="en-US" b="1"/>
              <a:t>12.91%</a:t>
            </a:r>
          </a:p>
          <a:p>
            <a:endParaRPr lang="en-US"/>
          </a:p>
          <a:p>
            <a:r>
              <a:rPr lang="en-US" b="1"/>
              <a:t>2022 Low</a:t>
            </a:r>
            <a:endParaRPr lang="en-US"/>
          </a:p>
          <a:p>
            <a:r>
              <a:rPr lang="en-US"/>
              <a:t>Net Profit Margin: </a:t>
            </a:r>
            <a:r>
              <a:rPr lang="en-US" b="1"/>
              <a:t>2.58%</a:t>
            </a:r>
          </a:p>
          <a:p>
            <a:r>
              <a:rPr lang="en-US"/>
              <a:t>ROA: </a:t>
            </a:r>
            <a:r>
              <a:rPr lang="en-US" b="1"/>
              <a:t>5.21%</a:t>
            </a:r>
          </a:p>
          <a:p>
            <a:endParaRPr lang="en-US"/>
          </a:p>
          <a:p>
            <a:r>
              <a:rPr lang="en-US" b="1"/>
              <a:t>2024 Recovery</a:t>
            </a:r>
            <a:endParaRPr lang="en-US"/>
          </a:p>
          <a:p>
            <a:r>
              <a:rPr lang="en-US"/>
              <a:t>Gross Profit Margin: </a:t>
            </a:r>
            <a:r>
              <a:rPr lang="en-US" b="1"/>
              <a:t>28.21%</a:t>
            </a:r>
          </a:p>
          <a:p>
            <a:r>
              <a:rPr lang="en-US"/>
              <a:t>ROE: </a:t>
            </a:r>
            <a:r>
              <a:rPr lang="en-US" b="1"/>
              <a:t>27.89%</a:t>
            </a:r>
          </a:p>
        </p:txBody>
      </p:sp>
    </p:spTree>
    <p:extLst>
      <p:ext uri="{BB962C8B-B14F-4D97-AF65-F5344CB8AC3E}">
        <p14:creationId xmlns:p14="http://schemas.microsoft.com/office/powerpoint/2010/main" val="3815474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1E68B4-EFAB-6AC1-1BC3-2824E96DA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221725" y="8882"/>
            <a:ext cx="8497019" cy="1698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>
                <a:latin typeface="Calibri"/>
                <a:ea typeface="Calibri"/>
                <a:cs typeface="Calibri"/>
              </a:rPr>
              <a:t>Market Analysis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04AEF6D-EF56-C2EB-879D-6E166D9D6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308940"/>
              </p:ext>
            </p:extLst>
          </p:nvPr>
        </p:nvGraphicFramePr>
        <p:xfrm>
          <a:off x="752354" y="1308052"/>
          <a:ext cx="10695041" cy="237744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835226">
                  <a:extLst>
                    <a:ext uri="{9D8B030D-6E8A-4147-A177-3AD203B41FA5}">
                      <a16:colId xmlns:a16="http://schemas.microsoft.com/office/drawing/2014/main" val="709670099"/>
                    </a:ext>
                  </a:extLst>
                </a:gridCol>
                <a:gridCol w="1729787">
                  <a:extLst>
                    <a:ext uri="{9D8B030D-6E8A-4147-A177-3AD203B41FA5}">
                      <a16:colId xmlns:a16="http://schemas.microsoft.com/office/drawing/2014/main" val="3842937346"/>
                    </a:ext>
                  </a:extLst>
                </a:gridCol>
                <a:gridCol w="1782507">
                  <a:extLst>
                    <a:ext uri="{9D8B030D-6E8A-4147-A177-3AD203B41FA5}">
                      <a16:colId xmlns:a16="http://schemas.microsoft.com/office/drawing/2014/main" val="181751285"/>
                    </a:ext>
                  </a:extLst>
                </a:gridCol>
                <a:gridCol w="1782507">
                  <a:extLst>
                    <a:ext uri="{9D8B030D-6E8A-4147-A177-3AD203B41FA5}">
                      <a16:colId xmlns:a16="http://schemas.microsoft.com/office/drawing/2014/main" val="2215678135"/>
                    </a:ext>
                  </a:extLst>
                </a:gridCol>
                <a:gridCol w="1782507">
                  <a:extLst>
                    <a:ext uri="{9D8B030D-6E8A-4147-A177-3AD203B41FA5}">
                      <a16:colId xmlns:a16="http://schemas.microsoft.com/office/drawing/2014/main" val="2338605348"/>
                    </a:ext>
                  </a:extLst>
                </a:gridCol>
                <a:gridCol w="1782507">
                  <a:extLst>
                    <a:ext uri="{9D8B030D-6E8A-4147-A177-3AD203B41FA5}">
                      <a16:colId xmlns:a16="http://schemas.microsoft.com/office/drawing/2014/main" val="2697180199"/>
                    </a:ext>
                  </a:extLst>
                </a:gridCol>
              </a:tblGrid>
              <a:tr h="31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FY2020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FY2021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FY2022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FY2023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FY2024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560134"/>
                  </a:ext>
                </a:extLst>
              </a:tr>
              <a:tr h="35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Stock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$181.17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$217.67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$168.51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$145.49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$137.91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35969"/>
                  </a:ext>
                </a:extLst>
              </a:tr>
              <a:tr h="550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Price-to-Earnings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21.0x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15.4x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28.2x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16.3x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15.6x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2882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Price-to-Book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6.28x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8.00x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6.91x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5.00x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4.28x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840465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Market-to-Book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6.28x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8.00x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6.91x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5.00x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4.28x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73189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126AD5B-EA0B-0B86-33AA-6F67A7B280F7}"/>
              </a:ext>
            </a:extLst>
          </p:cNvPr>
          <p:cNvSpPr txBox="1"/>
          <p:nvPr/>
        </p:nvSpPr>
        <p:spPr>
          <a:xfrm>
            <a:off x="658905" y="874059"/>
            <a:ext cx="112327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Closing stock price on Jan 29, 2021 · Jan 28, 2022 · Jan 27, 2023 · Feb 2, 2024 · Jan 31, 2025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D948D1-DC10-E015-4AF4-4853AB501E6B}"/>
              </a:ext>
            </a:extLst>
          </p:cNvPr>
          <p:cNvSpPr txBox="1"/>
          <p:nvPr/>
        </p:nvSpPr>
        <p:spPr>
          <a:xfrm>
            <a:off x="116191" y="3881543"/>
            <a:ext cx="12326470" cy="1615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P/E moved opposite to EPS: lowest in FY2021 (EPS peak of $14.10), highest in FY2022 (EPS fell to $5.98)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P/B fell from 8.00x to 4.28x as the price dropped and book value per share rose to $32.19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P/B and M/B are identical: the same comparison, per share vs. whole company</a:t>
            </a:r>
            <a:endParaRPr lang="en-US"/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851DC-FAF4-557F-37C3-0E9063DD05B3}"/>
              </a:ext>
            </a:extLst>
          </p:cNvPr>
          <p:cNvSpPr txBox="1"/>
          <p:nvPr/>
        </p:nvSpPr>
        <p:spPr>
          <a:xfrm>
            <a:off x="1388954" y="5420979"/>
            <a:ext cx="97894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Recommendation:</a:t>
            </a:r>
            <a:r>
              <a:rPr lang="en-US">
                <a:ea typeface="+mn-lt"/>
                <a:cs typeface="+mn-lt"/>
              </a:rPr>
              <a:t> Target should focus on growing earnings. EPS stayed about the same in FY2023–FY2024, but the stock price kept falling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1BD50-AB23-04B5-E729-DCBF89DCAC50}"/>
              </a:ext>
            </a:extLst>
          </p:cNvPr>
          <p:cNvSpPr txBox="1"/>
          <p:nvPr/>
        </p:nvSpPr>
        <p:spPr>
          <a:xfrm>
            <a:off x="201007" y="6580922"/>
            <a:ext cx="109728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Sources: Target Corporation Forms 10-K, FY2020–FY2024 (EPS, shares, equity); Yahoo Finance (closing prices).</a:t>
            </a:r>
          </a:p>
        </p:txBody>
      </p:sp>
    </p:spTree>
    <p:extLst>
      <p:ext uri="{BB962C8B-B14F-4D97-AF65-F5344CB8AC3E}">
        <p14:creationId xmlns:p14="http://schemas.microsoft.com/office/powerpoint/2010/main" val="1964840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19C861-FF34-10A5-F89E-BDCBA0784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6456" y="280869"/>
            <a:ext cx="4211243" cy="12244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b="1"/>
              <a:t>DuPont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AACE1C-83A3-6456-8A41-9A60E6159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011930"/>
              </p:ext>
            </p:extLst>
          </p:nvPr>
        </p:nvGraphicFramePr>
        <p:xfrm>
          <a:off x="805132" y="1092679"/>
          <a:ext cx="11037891" cy="248777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58957">
                  <a:extLst>
                    <a:ext uri="{9D8B030D-6E8A-4147-A177-3AD203B41FA5}">
                      <a16:colId xmlns:a16="http://schemas.microsoft.com/office/drawing/2014/main" val="2388623667"/>
                    </a:ext>
                  </a:extLst>
                </a:gridCol>
                <a:gridCol w="1620342">
                  <a:extLst>
                    <a:ext uri="{9D8B030D-6E8A-4147-A177-3AD203B41FA5}">
                      <a16:colId xmlns:a16="http://schemas.microsoft.com/office/drawing/2014/main" val="3142797451"/>
                    </a:ext>
                  </a:extLst>
                </a:gridCol>
                <a:gridCol w="1839648">
                  <a:extLst>
                    <a:ext uri="{9D8B030D-6E8A-4147-A177-3AD203B41FA5}">
                      <a16:colId xmlns:a16="http://schemas.microsoft.com/office/drawing/2014/main" val="1536300919"/>
                    </a:ext>
                  </a:extLst>
                </a:gridCol>
                <a:gridCol w="1839648">
                  <a:extLst>
                    <a:ext uri="{9D8B030D-6E8A-4147-A177-3AD203B41FA5}">
                      <a16:colId xmlns:a16="http://schemas.microsoft.com/office/drawing/2014/main" val="3973880819"/>
                    </a:ext>
                  </a:extLst>
                </a:gridCol>
                <a:gridCol w="1839648">
                  <a:extLst>
                    <a:ext uri="{9D8B030D-6E8A-4147-A177-3AD203B41FA5}">
                      <a16:colId xmlns:a16="http://schemas.microsoft.com/office/drawing/2014/main" val="276589514"/>
                    </a:ext>
                  </a:extLst>
                </a:gridCol>
                <a:gridCol w="1839648">
                  <a:extLst>
                    <a:ext uri="{9D8B030D-6E8A-4147-A177-3AD203B41FA5}">
                      <a16:colId xmlns:a16="http://schemas.microsoft.com/office/drawing/2014/main" val="958199087"/>
                    </a:ext>
                  </a:extLst>
                </a:gridCol>
              </a:tblGrid>
              <a:tr h="341493">
                <a:tc>
                  <a:txBody>
                    <a:bodyPr/>
                    <a:lstStyle/>
                    <a:p>
                      <a:r>
                        <a:rPr lang="en-US"/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FY2020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FY2021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FY2022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FY2023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FY2024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358241"/>
                  </a:ext>
                </a:extLst>
              </a:tr>
              <a:tr h="585417">
                <a:tc>
                  <a:txBody>
                    <a:bodyPr/>
                    <a:lstStyle/>
                    <a:p>
                      <a:r>
                        <a:rPr lang="en-US"/>
                        <a:t>Profit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94954"/>
                  </a:ext>
                </a:extLst>
              </a:tr>
              <a:tr h="585417">
                <a:tc>
                  <a:txBody>
                    <a:bodyPr/>
                    <a:lstStyle/>
                    <a:p>
                      <a:r>
                        <a:rPr lang="en-US"/>
                        <a:t>Asset Turnover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905396"/>
                  </a:ext>
                </a:extLst>
              </a:tr>
              <a:tr h="585417">
                <a:tc>
                  <a:txBody>
                    <a:bodyPr/>
                    <a:lstStyle/>
                    <a:p>
                      <a:r>
                        <a:rPr lang="en-US"/>
                        <a:t>Debt/Assets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76.16%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78.94%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74.61%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117473"/>
                  </a:ext>
                </a:extLst>
              </a:tr>
              <a:tr h="341493">
                <a:tc>
                  <a:txBody>
                    <a:bodyPr/>
                    <a:lstStyle/>
                    <a:p>
                      <a:r>
                        <a:rPr lang="en-US"/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27.89%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6253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9DE752-8E1F-2A0F-D85A-DF0475084F47}"/>
              </a:ext>
            </a:extLst>
          </p:cNvPr>
          <p:cNvSpPr txBox="1"/>
          <p:nvPr/>
        </p:nvSpPr>
        <p:spPr>
          <a:xfrm>
            <a:off x="24699" y="4005384"/>
            <a:ext cx="1066283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ROE fell from 54.15% in 2021 to 24.75% in 2022, alongside a sharp decline in profit margin.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Asset turnover increased in 2022, suggesting the ROE decline was driven more by lower profitability than asset utilization.</a:t>
            </a:r>
          </a:p>
          <a:p>
            <a:endParaRPr lang="en-US"/>
          </a:p>
          <a:p>
            <a:r>
              <a:rPr lang="en-US" b="1"/>
              <a:t> Recommendation</a:t>
            </a:r>
            <a:r>
              <a:rPr lang="en-US"/>
              <a:t>: Focus on improving profit margins while maintaining efficient use of assets.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79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32A01E-8565-8BA6-A933-F004A82ED6A3}"/>
              </a:ext>
            </a:extLst>
          </p:cNvPr>
          <p:cNvSpPr txBox="1"/>
          <p:nvPr/>
        </p:nvSpPr>
        <p:spPr>
          <a:xfrm>
            <a:off x="-7444596" y="127493"/>
            <a:ext cx="10058400" cy="46634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3200" b="1" kern="1200" cap="none" baseline="0">
                <a:latin typeface="Calibri"/>
                <a:ea typeface="Calibri"/>
                <a:cs typeface="Calibri"/>
              </a:rPr>
              <a:t>Debt </a:t>
            </a:r>
            <a:r>
              <a:rPr lang="en-US" sz="3200" b="1">
                <a:latin typeface="Calibri"/>
                <a:ea typeface="Calibri"/>
                <a:cs typeface="Calibri"/>
              </a:rPr>
              <a:t>Analysis</a:t>
            </a:r>
            <a:endParaRPr lang="en-US" sz="3200" b="1" kern="1200" cap="none" baseline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156599-FC9E-14EE-E7DE-F22D4A8A2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098956"/>
              </p:ext>
            </p:extLst>
          </p:nvPr>
        </p:nvGraphicFramePr>
        <p:xfrm>
          <a:off x="680978" y="727663"/>
          <a:ext cx="10844196" cy="2214697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807366">
                  <a:extLst>
                    <a:ext uri="{9D8B030D-6E8A-4147-A177-3AD203B41FA5}">
                      <a16:colId xmlns:a16="http://schemas.microsoft.com/office/drawing/2014/main" val="4228643045"/>
                    </a:ext>
                  </a:extLst>
                </a:gridCol>
                <a:gridCol w="1807366">
                  <a:extLst>
                    <a:ext uri="{9D8B030D-6E8A-4147-A177-3AD203B41FA5}">
                      <a16:colId xmlns:a16="http://schemas.microsoft.com/office/drawing/2014/main" val="1223092644"/>
                    </a:ext>
                  </a:extLst>
                </a:gridCol>
                <a:gridCol w="1807366">
                  <a:extLst>
                    <a:ext uri="{9D8B030D-6E8A-4147-A177-3AD203B41FA5}">
                      <a16:colId xmlns:a16="http://schemas.microsoft.com/office/drawing/2014/main" val="775667766"/>
                    </a:ext>
                  </a:extLst>
                </a:gridCol>
                <a:gridCol w="1807366">
                  <a:extLst>
                    <a:ext uri="{9D8B030D-6E8A-4147-A177-3AD203B41FA5}">
                      <a16:colId xmlns:a16="http://schemas.microsoft.com/office/drawing/2014/main" val="2077520756"/>
                    </a:ext>
                  </a:extLst>
                </a:gridCol>
                <a:gridCol w="1807366">
                  <a:extLst>
                    <a:ext uri="{9D8B030D-6E8A-4147-A177-3AD203B41FA5}">
                      <a16:colId xmlns:a16="http://schemas.microsoft.com/office/drawing/2014/main" val="558236439"/>
                    </a:ext>
                  </a:extLst>
                </a:gridCol>
                <a:gridCol w="1807366">
                  <a:extLst>
                    <a:ext uri="{9D8B030D-6E8A-4147-A177-3AD203B41FA5}">
                      <a16:colId xmlns:a16="http://schemas.microsoft.com/office/drawing/2014/main" val="3634000113"/>
                    </a:ext>
                  </a:extLst>
                </a:gridCol>
              </a:tblGrid>
              <a:tr h="308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FY2020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FY2021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FY2022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FY2023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FY2024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943867"/>
                  </a:ext>
                </a:extLst>
              </a:tr>
              <a:tr h="5421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Neue Haas Grotesk Text Pro"/>
                        </a:rPr>
                        <a:t>Debt Ratio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71.8%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76.2%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78.9%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75.7%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74.6%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563154"/>
                  </a:ext>
                </a:extLst>
              </a:tr>
              <a:tr h="3084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Neue Haas Grotesk Text Pro"/>
                        </a:rPr>
                        <a:t>Short-Term Debt Ratio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54.7%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53.1%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46.3%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46.0%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48.3%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8665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Neue Haas Grotesk Text Pro"/>
                        </a:rPr>
                        <a:t>Times Interest Earned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6.69x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21.25x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8.05x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11.37x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13.54x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51204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9F625E2-C075-3A8B-8DA4-DDDE3F5EB937}"/>
              </a:ext>
            </a:extLst>
          </p:cNvPr>
          <p:cNvSpPr txBox="1"/>
          <p:nvPr/>
        </p:nvSpPr>
        <p:spPr>
          <a:xfrm>
            <a:off x="-3269" y="5245429"/>
            <a:ext cx="10981425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Debt ratio peaked in FY2022 after $7.19B (FY2021) and $2.65B (FY2022) in share repurchases reduced stockholders' equity</a:t>
            </a:r>
            <a:endParaRPr lang="en-US" sz="12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Short-term debt ratio fell as long-term debt rose to $16.0B; rose in FY2024 as $1.6B was reclassified as current</a:t>
            </a:r>
            <a:endParaRPr lang="en-US" sz="12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FY2020 TIE includes a one-time $512M early-repayment charge (about 14.1x excluding it), the FY2022 dip reflects inventory markdowns</a:t>
            </a:r>
            <a:endParaRPr lang="en-US" sz="1200"/>
          </a:p>
          <a:p>
            <a:pPr algn="l"/>
            <a:endParaRPr 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148C4-FC69-860D-DFB8-1B8ECEF6729F}"/>
              </a:ext>
            </a:extLst>
          </p:cNvPr>
          <p:cNvSpPr txBox="1"/>
          <p:nvPr/>
        </p:nvSpPr>
        <p:spPr>
          <a:xfrm>
            <a:off x="-3614" y="6130700"/>
            <a:ext cx="84366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ea typeface="+mn-lt"/>
                <a:cs typeface="+mn-lt"/>
              </a:rPr>
              <a:t>Recommendation:</a:t>
            </a:r>
            <a:r>
              <a:rPr lang="en-US" sz="1200">
                <a:ea typeface="+mn-lt"/>
                <a:cs typeface="+mn-lt"/>
              </a:rPr>
              <a:t> Maintain times interest earned above about 10x and refinance the $1.6B of debt due within the year before repurchasing a large number of shares.</a:t>
            </a:r>
            <a:endParaRPr lang="en-US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62AD43-15AA-6897-0D24-58118DFA69CF}"/>
              </a:ext>
            </a:extLst>
          </p:cNvPr>
          <p:cNvSpPr txBox="1"/>
          <p:nvPr/>
        </p:nvSpPr>
        <p:spPr>
          <a:xfrm>
            <a:off x="-2924" y="6581823"/>
            <a:ext cx="91555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Source: Target Corporation Forms 10-K, FY2020–FY2024, SEC EDGAR.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66180E-7E0F-5D59-877F-A64F61C69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662" y="3036847"/>
            <a:ext cx="3903563" cy="22118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8F7304-6A42-A522-43C6-319A8BE74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781" y="3146264"/>
            <a:ext cx="2694008" cy="198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10440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Bjo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Bjo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58E17CF6-1BD7-439C-B13C-57B478723B62}" vid="{983041D9-13D3-43F3-B671-446E6DAE8C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Bjorn</vt:lpstr>
      <vt:lpstr>MBA 440 Target Financial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2026-09-27T19:41:49Z</dcterms:created>
  <dcterms:modified xsi:type="dcterms:W3CDTF">2026-10-13T17:15:10Z</dcterms:modified>
</cp:coreProperties>
</file>